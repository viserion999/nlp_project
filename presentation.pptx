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12192000"/>
  <p:notesSz cx="6858000" cy="9144000"/>
  <p:embeddedFontLst>
    <p:embeddedFont>
      <p:font typeface="Montserrat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DEE64B-2D46-45C4-AE7C-3695C3454CAA}">
  <a:tblStyle styleId="{B1DEE64B-2D46-45C4-AE7C-3695C3454CA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Montserrat-regular.fntdata"/><Relationship Id="rId41" Type="http://schemas.openxmlformats.org/officeDocument/2006/relationships/slide" Target="slides/slide35.xml"/><Relationship Id="rId44" Type="http://schemas.openxmlformats.org/officeDocument/2006/relationships/font" Target="fonts/Montserrat-italic.fntdata"/><Relationship Id="rId43" Type="http://schemas.openxmlformats.org/officeDocument/2006/relationships/font" Target="fonts/Montserrat-bold.fntdata"/><Relationship Id="rId46" Type="http://schemas.openxmlformats.org/officeDocument/2006/relationships/font" Target="fonts/Lato-regular.fntdata"/><Relationship Id="rId45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8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35.png"/><Relationship Id="rId5" Type="http://schemas.openxmlformats.org/officeDocument/2006/relationships/image" Target="../media/image23.png"/><Relationship Id="rId6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29.png"/><Relationship Id="rId5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29.png"/><Relationship Id="rId5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29.png"/><Relationship Id="rId5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29.png"/><Relationship Id="rId5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33.png"/><Relationship Id="rId5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40.png"/><Relationship Id="rId5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36.png"/><Relationship Id="rId5" Type="http://schemas.openxmlformats.org/officeDocument/2006/relationships/image" Target="../media/image39.png"/><Relationship Id="rId6" Type="http://schemas.openxmlformats.org/officeDocument/2006/relationships/image" Target="../media/image41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767929"/>
            <a:ext cx="48406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RESEARCH PRESENTATION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234654"/>
            <a:ext cx="10181272" cy="11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MERGE: Multimodal Emotion-Driven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 Rhythmic Lyric Generation Engine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937545"/>
            <a:ext cx="6619875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Authors:</a:t>
            </a: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Abhay Sharma, Ankit Kumar, Hritik Ranjan, Vikash Kumar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Institute:</a:t>
            </a: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Indian Institute of Information Technology, Hyderabad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Date:</a:t>
            </a: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April 2026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71500" y="3747045"/>
            <a:ext cx="6619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14001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1-Slide Summary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04875" y="1876425"/>
            <a:ext cx="5000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Problem:</a:t>
            </a:r>
            <a:r>
              <a:rPr b="0" i="0" lang="en-US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Existing systems focus on either emotion OR structure of lyrics, rarely both in a multimodal context.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04875" y="2590800"/>
            <a:ext cx="5000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Solution: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Proposed MERGE, a framework for rhythm-aware lyrics conditioned on facial expressions.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3305175"/>
            <a:ext cx="5000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Method: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Infers emotional state via FER (Facial Emotion Recognition) to guide GPT-2 generation.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4019550"/>
            <a:ext cx="5000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Evaluation: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Introduced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PHREM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a comprehensive research-level metric for quality assessment.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ABSTRACT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7642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080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0517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9550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3524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400175"/>
            <a:ext cx="3524250" cy="2749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1400175"/>
            <a:ext cx="3524250" cy="310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647225" y="5340950"/>
            <a:ext cx="1072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2060"/>
                </a:solidFill>
                <a:latin typeface="Lato"/>
                <a:ea typeface="Lato"/>
                <a:cs typeface="Lato"/>
                <a:sym typeface="Lato"/>
              </a:rPr>
              <a:t>Goal: Generate emotion-aware and rhythm-consistent lyrics through a unified multimodal pipeline.</a:t>
            </a:r>
            <a:endParaRPr sz="2400"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6478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19150" y="2095500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Structural Focus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19150" y="2562225"/>
            <a:ext cx="3029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Prior systems primarily emphasize rhyme at the cost of emotional depth.</a:t>
            </a:r>
            <a:endParaRPr sz="1800"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1525" y="16478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581525" y="2095500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Emotional Control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81525" y="2562225"/>
            <a:ext cx="30291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Limited research on using external modalities (visual/face) for linguistic creative steering.</a:t>
            </a:r>
            <a:endParaRPr sz="1800"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43900" y="164782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343900" y="2095500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Integration Gap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343900" y="2562225"/>
            <a:ext cx="30291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Absence of frameworks combining facial emotion vectors with rhythm-constrained text decoding.</a:t>
            </a:r>
            <a:endParaRPr sz="1800"/>
          </a:p>
        </p:txBody>
      </p:sp>
      <p:sp>
        <p:nvSpPr>
          <p:cNvPr id="123" name="Google Shape;123;p15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14001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Why Lyrics?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286500" y="1400175"/>
            <a:ext cx="56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286500" y="1866900"/>
            <a:ext cx="5334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04875" y="18764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Complexity: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Direct music synthesis faces data scarcity and high audio dimensionality.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04875" y="259080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NLP Scope: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Lyric generation allows sophisticated semantic and structural study within text domains.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04875" y="33051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Expressivity: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Lyrics serve as the primary emotional carrier in modern musical compositions.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MOTIVATION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7642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080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05175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8387"/>
            <a:ext cx="1104900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86212"/>
            <a:ext cx="11049000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904875" y="2586037"/>
            <a:ext cx="1099137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RQ1: Control Signal Efficacy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04875" y="3052762"/>
            <a:ext cx="10467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Can facial emotion signals effectively serve as control inputs for fine-grained lyric generation?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04875" y="4233862"/>
            <a:ext cx="1099137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RQ2: Constraint Interaction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04875" y="4700587"/>
            <a:ext cx="10467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Can rhythmic constraints be enforced during decoding without significantly degrading emotional alignment or linguistic fluency?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RESEARCH QUESTIONS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3524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400175"/>
            <a:ext cx="3524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1400175"/>
            <a:ext cx="3524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64782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19150" y="2095500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MERGE Framework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19150" y="2562225"/>
            <a:ext cx="3029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First end-to-end framework connecting FER with rhythmic lyric generation.</a:t>
            </a:r>
            <a:endParaRPr sz="1800"/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1525" y="16478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4581525" y="2095500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Annotation Pipeline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581525" y="2562225"/>
            <a:ext cx="3029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Scalable method to map GoEmotions to FER classes for large-scale labeling.</a:t>
            </a:r>
            <a:endParaRPr sz="1800"/>
          </a:p>
        </p:txBody>
      </p:sp>
      <p:pic>
        <p:nvPicPr>
          <p:cNvPr descr="image.png" id="168" name="Google Shape;16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43900" y="16478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8343900" y="2095500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PHREM Metric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343900" y="2562225"/>
            <a:ext cx="3029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Advanced evaluation metric capturing phonetic flow, rhythm, and coherence.</a:t>
            </a:r>
            <a:endParaRPr sz="1800"/>
          </a:p>
        </p:txBody>
      </p:sp>
      <p:sp>
        <p:nvSpPr>
          <p:cNvPr id="171" name="Google Shape;171;p18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CORE CONTRIBUTIONS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/>
          <p:nvPr/>
        </p:nvSpPr>
        <p:spPr>
          <a:xfrm>
            <a:off x="5381625" y="2195512"/>
            <a:ext cx="142875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1970484" y="2424112"/>
            <a:ext cx="825103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I. Background &amp; Literature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2995612" y="3309937"/>
            <a:ext cx="6200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Current state of Facial Emotion Recognition and Controlled Text Generation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71500" y="14001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Facial Emotion Recognition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904875" y="18764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Evolution from ResNet/MobileNet to Transformer-based architectures.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904875" y="2590800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Benchmark datasets: FER-2013 (35k images) and RAF-DB.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904875" y="30194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Focus on 7-class classification (Angry, Disgust, Fear, Happy, Sad, Surprise, Neutral).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RELATED WORK: FER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3" name="Google Shape;1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7642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080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19425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571500" y="14001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Controlled Text Generation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286500" y="1400175"/>
            <a:ext cx="56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286500" y="1866900"/>
            <a:ext cx="5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904875" y="18764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Attribute-guided generation using control tokens (Radford et al., 2019).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904875" y="259080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Poetry systems using CMU Dictionary for phonetic rules (Ghazvininejad et al., 2016).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904875" y="33051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Missing: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Systems that merge multimodal visual cues with multi-attribute text steering.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RELATED WORK: TEXT GEN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9" name="Google Shape;2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7642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080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05175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/>
          <p:nvPr/>
        </p:nvSpPr>
        <p:spPr>
          <a:xfrm>
            <a:off x="5381625" y="2195512"/>
            <a:ext cx="142875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3330654" y="2424112"/>
            <a:ext cx="553069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II. Dataset Details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3709987" y="3309937"/>
            <a:ext cx="47720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Large-scale lyric corpora and multi-dataset FER unification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533400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00175"/>
            <a:ext cx="533400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819150" y="1647825"/>
            <a:ext cx="508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Lyrics: Genius Corpus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6534150" y="1647825"/>
            <a:ext cx="508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Vision: FER Unified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1152525" y="2124075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~3.2 Million English-language songs.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1152525" y="25527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Multi-genre diversity for robust training.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152525" y="2981325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Filtered for high-quality metadata.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6867525" y="2124075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FER-2013: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Grayscale baseline.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6867525" y="25527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RAF-DB: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Real-world images.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6867525" y="2981325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AffectNet: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High-scale annotation (30k used).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DATA SOURCES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8" name="Google Shape;23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12407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55270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98132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212407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255270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2981325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48150"/>
            <a:ext cx="110490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00225"/>
            <a:ext cx="352425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3875" y="1800225"/>
            <a:ext cx="352425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1800225"/>
            <a:ext cx="352425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00375"/>
            <a:ext cx="352425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3875" y="3000375"/>
            <a:ext cx="352425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3000375"/>
            <a:ext cx="352425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571500" y="14001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ensure cross-modal compatibility, we utilized a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6-class mapping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819150" y="4495800"/>
            <a:ext cx="10553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Exclusion of Disgust: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Removed due to severe class imbalance in FER datasets and significant linguistic overlap with 'Sadness' in lyrics.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819150" y="2047875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Angry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4581525" y="2047875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Fear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8343900" y="2047875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Happy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819150" y="3248025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Sad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4581525" y="3248025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Surprise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8343900" y="3248025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Neutral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EMOTION TAXONOMY</a:t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571500" y="14001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GoEmotions to FER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904875" y="1876425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Raw lyrics lack explicit emotion labels.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904875" y="2305050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Step 1: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28 GoEmotions categories predicted line-by-line.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904875" y="2733675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Step 2: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Line probabilities grouped into 6 parent FER sets.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904875" y="3162300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Step 3: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Weighted aggregation for song-level sentiment.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EMOTION MAPPING PIPELINE</a:t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8" name="Google Shape;27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7642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505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3367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62300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0725"/>
            <a:ext cx="11049000" cy="82807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6"/>
          <p:cNvSpPr txBox="1"/>
          <p:nvPr/>
        </p:nvSpPr>
        <p:spPr>
          <a:xfrm>
            <a:off x="571500" y="14001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Probability vector aggregation for a song with $n$ lines: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571500" y="3009304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Where $w_i = 1 - q_{neutral}$ represents emotional intensity. The dominant emotion $e^*$ is selected via $\arg\max$.</a:t>
            </a:r>
            <a:endParaRPr/>
          </a:p>
        </p:txBody>
      </p:sp>
      <p:pic>
        <p:nvPicPr>
          <p:cNvPr descr="image.png" id="290" name="Google Shape;29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41887" y="2181225"/>
            <a:ext cx="1555849" cy="44707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6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MATHEMATICAL FORMULATION</a:t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7"/>
          <p:cNvSpPr/>
          <p:nvPr/>
        </p:nvSpPr>
        <p:spPr>
          <a:xfrm>
            <a:off x="5381625" y="2195512"/>
            <a:ext cx="142875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 txBox="1"/>
          <p:nvPr/>
        </p:nvSpPr>
        <p:spPr>
          <a:xfrm>
            <a:off x="3545681" y="2424112"/>
            <a:ext cx="510063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III. Methodology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3705225" y="3309937"/>
            <a:ext cx="4781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MERGE System Architecture &amp; Constrained Decoding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8"/>
          <p:cNvSpPr txBox="1"/>
          <p:nvPr/>
        </p:nvSpPr>
        <p:spPr>
          <a:xfrm>
            <a:off x="571500" y="14001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The Pipeline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800100" y="1876425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952500" y="187642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Input: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User Face Image.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800100" y="2162175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952500" y="216217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FER Module: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Predicts emotion (e.g., Happy).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800100" y="2447925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952500" y="244792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Control Token: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Prepends to GPT-2.</a:t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800100" y="2733675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952500" y="273367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Transformer: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Generates next-token probability.</a:t>
            </a:r>
            <a:endParaRPr/>
          </a:p>
        </p:txBody>
      </p:sp>
      <p:sp>
        <p:nvSpPr>
          <p:cNvPr id="316" name="Google Shape;316;p28"/>
          <p:cNvSpPr txBox="1"/>
          <p:nvPr/>
        </p:nvSpPr>
        <p:spPr>
          <a:xfrm>
            <a:off x="800100" y="3019425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5.</a:t>
            </a:r>
            <a:endParaRPr/>
          </a:p>
        </p:txBody>
      </p:sp>
      <p:sp>
        <p:nvSpPr>
          <p:cNvPr id="317" name="Google Shape;317;p28"/>
          <p:cNvSpPr txBox="1"/>
          <p:nvPr/>
        </p:nvSpPr>
        <p:spPr>
          <a:xfrm>
            <a:off x="952500" y="301942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Constraint Decoder: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Filters tokens for rhythm/rhyme.</a:t>
            </a:r>
            <a:endParaRPr/>
          </a:p>
        </p:txBody>
      </p:sp>
      <p:sp>
        <p:nvSpPr>
          <p:cNvPr id="318" name="Google Shape;318;p28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SYSTEM OVERVIEW</a:t>
            </a:r>
            <a:endParaRPr/>
          </a:p>
        </p:txBody>
      </p:sp>
      <p:sp>
        <p:nvSpPr>
          <p:cNvPr id="319" name="Google Shape;319;p28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00175"/>
            <a:ext cx="53340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9"/>
          <p:cNvSpPr txBox="1"/>
          <p:nvPr/>
        </p:nvSpPr>
        <p:spPr>
          <a:xfrm>
            <a:off x="571500" y="14001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Model Specs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6534150" y="1647825"/>
            <a:ext cx="4838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Training Strategy: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Phase V utilized an ensemble (EfficientNet-B3 + DenseNet-121) for superior robustness across multi-dataset variance.</a:t>
            </a:r>
            <a:endParaRPr/>
          </a:p>
        </p:txBody>
      </p:sp>
      <p:sp>
        <p:nvSpPr>
          <p:cNvPr id="328" name="Google Shape;328;p29"/>
          <p:cNvSpPr txBox="1"/>
          <p:nvPr/>
        </p:nvSpPr>
        <p:spPr>
          <a:xfrm>
            <a:off x="904875" y="1876425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CNN-based Feature Extractor.</a:t>
            </a:r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904875" y="2305050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Softmax layer for probability output across 6 classes.</a:t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904875" y="27336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Progressive unfreezing to prevent overfitting on FER-2013 benchmarks.</a:t>
            </a:r>
            <a:endParaRPr/>
          </a:p>
        </p:txBody>
      </p:sp>
      <p:sp>
        <p:nvSpPr>
          <p:cNvPr id="331" name="Google Shape;331;p29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FACIAL EMOTION RECOGNITION</a:t>
            </a:r>
            <a:endParaRPr/>
          </a:p>
        </p:txBody>
      </p:sp>
      <p:sp>
        <p:nvSpPr>
          <p:cNvPr id="332" name="Google Shape;332;p29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3" name="Google Shape;33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7642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0505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33675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0" name="Google Shape;34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110490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0"/>
          <p:cNvSpPr txBox="1"/>
          <p:nvPr/>
        </p:nvSpPr>
        <p:spPr>
          <a:xfrm>
            <a:off x="571500" y="2695575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Emotion control is implemented via explicit control tokens. The model learns associations between high-level tags and thematic clusters (e.g., Happy → Imagery of celebration/light).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819150" y="1647825"/>
            <a:ext cx="10553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[User Image] → FER →  → GPT-2 → "Sunshine in my pocket..."</a:t>
            </a:r>
            <a:endParaRPr/>
          </a:p>
        </p:txBody>
      </p:sp>
      <p:sp>
        <p:nvSpPr>
          <p:cNvPr id="344" name="Google Shape;344;p30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EMOTION CONDITIONING</a:t>
            </a:r>
            <a:endParaRPr/>
          </a:p>
        </p:txBody>
      </p:sp>
      <p:sp>
        <p:nvSpPr>
          <p:cNvPr id="345" name="Google Shape;345;p30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0" name="Google Shape;35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0725"/>
            <a:ext cx="11049000" cy="87987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1"/>
          <p:cNvSpPr txBox="1"/>
          <p:nvPr/>
        </p:nvSpPr>
        <p:spPr>
          <a:xfrm>
            <a:off x="571500" y="14001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Lyric generation is a conditional probability task:</a:t>
            </a:r>
            <a:endParaRPr/>
          </a:p>
        </p:txBody>
      </p:sp>
      <p:pic>
        <p:nvPicPr>
          <p:cNvPr descr="image.png" id="353" name="Google Shape;35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9881" y="2181225"/>
            <a:ext cx="3179712" cy="49887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1"/>
          <p:cNvSpPr txBox="1"/>
          <p:nvPr/>
        </p:nvSpPr>
        <p:spPr>
          <a:xfrm>
            <a:off x="904875" y="3213496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AdamW with linear warmup.</a:t>
            </a:r>
            <a:endParaRPr/>
          </a:p>
        </p:txBody>
      </p:sp>
      <p:sp>
        <p:nvSpPr>
          <p:cNvPr id="355" name="Google Shape;355;p31"/>
          <p:cNvSpPr txBox="1"/>
          <p:nvPr/>
        </p:nvSpPr>
        <p:spPr>
          <a:xfrm>
            <a:off x="904875" y="3642121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Sequence Length: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512 tokens.</a:t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904875" y="4070746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Finetuning: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Guided by mapped emotional Genius dataset.</a:t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LANGUAGE MODEL: GPT-2</a:t>
            </a:r>
            <a:endParaRPr/>
          </a:p>
        </p:txBody>
      </p:sp>
      <p:sp>
        <p:nvSpPr>
          <p:cNvPr id="358" name="Google Shape;358;p31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9" name="Google Shape;359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13496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42121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70746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6" name="Google Shape;36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00175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2"/>
          <p:cNvSpPr txBox="1"/>
          <p:nvPr/>
        </p:nvSpPr>
        <p:spPr>
          <a:xfrm>
            <a:off x="571500" y="14001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Constraint Enforcement</a:t>
            </a:r>
            <a:endParaRPr/>
          </a:p>
        </p:txBody>
      </p:sp>
      <p:pic>
        <p:nvPicPr>
          <p:cNvPr descr="image.png" id="369" name="Google Shape;36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409700"/>
            <a:ext cx="53149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2"/>
          <p:cNvSpPr txBox="1"/>
          <p:nvPr/>
        </p:nvSpPr>
        <p:spPr>
          <a:xfrm>
            <a:off x="904875" y="18764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Syllable Count: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Target counts maintained via candidate filtering.</a:t>
            </a:r>
            <a:endParaRPr/>
          </a:p>
        </p:txBody>
      </p:sp>
      <p:sp>
        <p:nvSpPr>
          <p:cNvPr id="371" name="Google Shape;371;p32"/>
          <p:cNvSpPr txBox="1"/>
          <p:nvPr/>
        </p:nvSpPr>
        <p:spPr>
          <a:xfrm>
            <a:off x="904875" y="259080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Rhyme Schemes: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CMU Dictionary lookup for AABB/ABAB patterns.</a:t>
            </a:r>
            <a:endParaRPr/>
          </a:p>
        </p:txBody>
      </p:sp>
      <p:sp>
        <p:nvSpPr>
          <p:cNvPr id="372" name="Google Shape;372;p32"/>
          <p:cNvSpPr txBox="1"/>
          <p:nvPr/>
        </p:nvSpPr>
        <p:spPr>
          <a:xfrm>
            <a:off x="904875" y="33051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Soft Back-off: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Strategy allows line regeneration if decoding becomes infeasible.</a:t>
            </a:r>
            <a:endParaRPr/>
          </a:p>
        </p:txBody>
      </p:sp>
      <p:sp>
        <p:nvSpPr>
          <p:cNvPr id="373" name="Google Shape;373;p32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RHYTHM-CONSTRAINED DECODING</a:t>
            </a:r>
            <a:endParaRPr/>
          </a:p>
        </p:txBody>
      </p:sp>
      <p:sp>
        <p:nvSpPr>
          <p:cNvPr id="374" name="Google Shape;374;p32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5" name="Google Shape;375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87642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9080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05175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2" name="Google Shape;38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3"/>
          <p:cNvSpPr/>
          <p:nvPr/>
        </p:nvSpPr>
        <p:spPr>
          <a:xfrm>
            <a:off x="5381625" y="2195512"/>
            <a:ext cx="142875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3"/>
          <p:cNvSpPr txBox="1"/>
          <p:nvPr/>
        </p:nvSpPr>
        <p:spPr>
          <a:xfrm>
            <a:off x="2710576" y="2424112"/>
            <a:ext cx="677084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IV. The PHREM Metric</a:t>
            </a:r>
            <a:endParaRPr/>
          </a:p>
        </p:txBody>
      </p:sp>
      <p:sp>
        <p:nvSpPr>
          <p:cNvPr id="386" name="Google Shape;386;p33"/>
          <p:cNvSpPr txBox="1"/>
          <p:nvPr/>
        </p:nvSpPr>
        <p:spPr>
          <a:xfrm>
            <a:off x="3486150" y="3309937"/>
            <a:ext cx="5219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Phonetic Rhythm Emotion Metric: A Lyrical Evaluation Standard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1" name="Google Shape;39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4"/>
          <p:cNvSpPr txBox="1"/>
          <p:nvPr/>
        </p:nvSpPr>
        <p:spPr>
          <a:xfrm>
            <a:off x="762000" y="1914525"/>
            <a:ext cx="50006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WHY PHREM?</a:t>
            </a:r>
            <a:endParaRPr/>
          </a:p>
        </p:txBody>
      </p:sp>
      <p:sp>
        <p:nvSpPr>
          <p:cNvPr id="393" name="Google Shape;393;p34"/>
          <p:cNvSpPr/>
          <p:nvPr/>
        </p:nvSpPr>
        <p:spPr>
          <a:xfrm>
            <a:off x="571500" y="1914525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4"/>
          <p:cNvSpPr txBox="1"/>
          <p:nvPr/>
        </p:nvSpPr>
        <p:spPr>
          <a:xfrm>
            <a:off x="571500" y="274320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Existing NLP metrics like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BLEU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or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ROUGE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fail for lyrics because they prioritize lexical overlap over musicality.</a:t>
            </a:r>
            <a:endParaRPr/>
          </a:p>
        </p:txBody>
      </p:sp>
      <p:sp>
        <p:nvSpPr>
          <p:cNvPr id="395" name="Google Shape;395;p34"/>
          <p:cNvSpPr txBox="1"/>
          <p:nvPr/>
        </p:nvSpPr>
        <p:spPr>
          <a:xfrm>
            <a:off x="571500" y="3429000"/>
            <a:ext cx="4953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Lyrics require a holistic view of: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• Phonetic flow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• Rhythm/Meter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• Emotional Arc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• Semantic Coherence</a:t>
            </a:r>
            <a:endParaRPr/>
          </a:p>
        </p:txBody>
      </p:sp>
      <p:pic>
        <p:nvPicPr>
          <p:cNvPr descr="image.png" id="396" name="Google Shape;39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1" name="Google Shape;40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0725"/>
            <a:ext cx="11049000" cy="889396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5"/>
          <p:cNvSpPr txBox="1"/>
          <p:nvPr/>
        </p:nvSpPr>
        <p:spPr>
          <a:xfrm>
            <a:off x="571500" y="14001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PHREM is a composite metric computed as a weighted sum of 7 dimensions:</a:t>
            </a:r>
            <a:endParaRPr/>
          </a:p>
        </p:txBody>
      </p:sp>
      <p:sp>
        <p:nvSpPr>
          <p:cNvPr id="404" name="Google Shape;404;p35"/>
          <p:cNvSpPr txBox="1"/>
          <p:nvPr/>
        </p:nvSpPr>
        <p:spPr>
          <a:xfrm>
            <a:off x="571500" y="3070621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Priority weights: **EAS (0.22)** for emotion and **MCS (0.20)** for coherence ensure thematic alignment remains primary.</a:t>
            </a:r>
            <a:endParaRPr/>
          </a:p>
        </p:txBody>
      </p:sp>
      <p:pic>
        <p:nvPicPr>
          <p:cNvPr descr="image.png" id="405" name="Google Shape;405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5973" y="2181225"/>
            <a:ext cx="1907678" cy="508396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5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PHREM CALCULATION</a:t>
            </a:r>
            <a:endParaRPr/>
          </a:p>
        </p:txBody>
      </p:sp>
      <p:sp>
        <p:nvSpPr>
          <p:cNvPr id="407" name="Google Shape;407;p35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2" name="Google Shape;41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53340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00175"/>
            <a:ext cx="533400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6"/>
          <p:cNvSpPr txBox="1"/>
          <p:nvPr/>
        </p:nvSpPr>
        <p:spPr>
          <a:xfrm>
            <a:off x="819150" y="1647825"/>
            <a:ext cx="508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PPFS: Phonetic Flow</a:t>
            </a:r>
            <a:endParaRPr/>
          </a:p>
        </p:txBody>
      </p:sp>
      <p:sp>
        <p:nvSpPr>
          <p:cNvPr id="416" name="Google Shape;416;p36"/>
          <p:cNvSpPr txBox="1"/>
          <p:nvPr/>
        </p:nvSpPr>
        <p:spPr>
          <a:xfrm>
            <a:off x="819150" y="2114550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Smoothness of phoneme transitions. Penalizes jarring vowel-consonant shifts.</a:t>
            </a:r>
            <a:endParaRPr/>
          </a:p>
        </p:txBody>
      </p:sp>
      <p:sp>
        <p:nvSpPr>
          <p:cNvPr id="417" name="Google Shape;417;p36"/>
          <p:cNvSpPr txBox="1"/>
          <p:nvPr/>
        </p:nvSpPr>
        <p:spPr>
          <a:xfrm>
            <a:off x="6534150" y="1647825"/>
            <a:ext cx="508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RSFS: Rhythmic Structure</a:t>
            </a:r>
            <a:endParaRPr/>
          </a:p>
        </p:txBody>
      </p:sp>
      <p:sp>
        <p:nvSpPr>
          <p:cNvPr id="418" name="Google Shape;418;p36"/>
          <p:cNvSpPr txBox="1"/>
          <p:nvPr/>
        </p:nvSpPr>
        <p:spPr>
          <a:xfrm>
            <a:off x="6534150" y="2114550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Measures syllable uniformity and stress pattern regularity across lines.</a:t>
            </a:r>
            <a:endParaRPr/>
          </a:p>
        </p:txBody>
      </p:sp>
      <p:sp>
        <p:nvSpPr>
          <p:cNvPr id="419" name="Google Shape;419;p36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FLOW &amp; RHYTHM</a:t>
            </a:r>
            <a:endParaRPr/>
          </a:p>
        </p:txBody>
      </p:sp>
      <p:sp>
        <p:nvSpPr>
          <p:cNvPr id="420" name="Google Shape;420;p36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5" name="Google Shape;42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53340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00175"/>
            <a:ext cx="533400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7"/>
          <p:cNvSpPr txBox="1"/>
          <p:nvPr/>
        </p:nvSpPr>
        <p:spPr>
          <a:xfrm>
            <a:off x="819150" y="1647825"/>
            <a:ext cx="508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EAS: Emotion Arc Score</a:t>
            </a:r>
            <a:endParaRPr/>
          </a:p>
        </p:txBody>
      </p:sp>
      <p:sp>
        <p:nvSpPr>
          <p:cNvPr id="429" name="Google Shape;429;p37"/>
          <p:cNvSpPr txBox="1"/>
          <p:nvPr/>
        </p:nvSpPr>
        <p:spPr>
          <a:xfrm>
            <a:off x="819150" y="2114550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Measures emotional continuity across line transitions using JS divergence.</a:t>
            </a:r>
            <a:endParaRPr/>
          </a:p>
        </p:txBody>
      </p:sp>
      <p:sp>
        <p:nvSpPr>
          <p:cNvPr id="430" name="Google Shape;430;p37"/>
          <p:cNvSpPr txBox="1"/>
          <p:nvPr/>
        </p:nvSpPr>
        <p:spPr>
          <a:xfrm>
            <a:off x="6534150" y="1647825"/>
            <a:ext cx="508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HQCS: Hook Quality</a:t>
            </a:r>
            <a:endParaRPr/>
          </a:p>
        </p:txBody>
      </p:sp>
      <p:sp>
        <p:nvSpPr>
          <p:cNvPr id="431" name="Google Shape;431;p37"/>
          <p:cNvSpPr txBox="1"/>
          <p:nvPr/>
        </p:nvSpPr>
        <p:spPr>
          <a:xfrm>
            <a:off x="6534150" y="2114550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Identifies repeated n-gram patterns and rewards catchy refrains.</a:t>
            </a:r>
            <a:endParaRPr/>
          </a:p>
        </p:txBody>
      </p:sp>
      <p:sp>
        <p:nvSpPr>
          <p:cNvPr id="432" name="Google Shape;432;p37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EMOTION &amp; CATCHINESS</a:t>
            </a:r>
            <a:endParaRPr/>
          </a:p>
        </p:txBody>
      </p:sp>
      <p:sp>
        <p:nvSpPr>
          <p:cNvPr id="433" name="Google Shape;433;p37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8" name="Google Shape;43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53340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00175"/>
            <a:ext cx="533400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8"/>
          <p:cNvSpPr txBox="1"/>
          <p:nvPr/>
        </p:nvSpPr>
        <p:spPr>
          <a:xfrm>
            <a:off x="819150" y="1647825"/>
            <a:ext cx="508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RCS: Rhyme Consistency</a:t>
            </a:r>
            <a:endParaRPr/>
          </a:p>
        </p:txBody>
      </p:sp>
      <p:sp>
        <p:nvSpPr>
          <p:cNvPr id="442" name="Google Shape;442;p38"/>
          <p:cNvSpPr txBox="1"/>
          <p:nvPr/>
        </p:nvSpPr>
        <p:spPr>
          <a:xfrm>
            <a:off x="819150" y="2114550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Evaluates rhyme quality of line-final words via phonetic pattern matching.</a:t>
            </a:r>
            <a:endParaRPr/>
          </a:p>
        </p:txBody>
      </p:sp>
      <p:sp>
        <p:nvSpPr>
          <p:cNvPr id="443" name="Google Shape;443;p38"/>
          <p:cNvSpPr txBox="1"/>
          <p:nvPr/>
        </p:nvSpPr>
        <p:spPr>
          <a:xfrm>
            <a:off x="6534150" y="1647825"/>
            <a:ext cx="508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MCS: Motif Consistency</a:t>
            </a:r>
            <a:endParaRPr/>
          </a:p>
        </p:txBody>
      </p:sp>
      <p:sp>
        <p:nvSpPr>
          <p:cNvPr id="444" name="Google Shape;444;p38"/>
          <p:cNvSpPr txBox="1"/>
          <p:nvPr/>
        </p:nvSpPr>
        <p:spPr>
          <a:xfrm>
            <a:off x="6534150" y="2114550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Topical coherence measured via sentence embeddings (Local vs. Global similarity).</a:t>
            </a:r>
            <a:endParaRPr/>
          </a:p>
        </p:txBody>
      </p:sp>
      <p:sp>
        <p:nvSpPr>
          <p:cNvPr id="445" name="Google Shape;445;p38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RHYME &amp; COHERENCE</a:t>
            </a:r>
            <a:endParaRPr/>
          </a:p>
        </p:txBody>
      </p:sp>
      <p:sp>
        <p:nvSpPr>
          <p:cNvPr id="446" name="Google Shape;446;p38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1" name="Google Shape;45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53340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3" name="Google Shape;453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00175"/>
            <a:ext cx="533400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9"/>
          <p:cNvSpPr txBox="1"/>
          <p:nvPr/>
        </p:nvSpPr>
        <p:spPr>
          <a:xfrm>
            <a:off x="819150" y="1647825"/>
            <a:ext cx="508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DPS: Degeneracy Penalty</a:t>
            </a:r>
            <a:endParaRPr/>
          </a:p>
        </p:txBody>
      </p:sp>
      <p:sp>
        <p:nvSpPr>
          <p:cNvPr id="455" name="Google Shape;455;p39"/>
          <p:cNvSpPr txBox="1"/>
          <p:nvPr/>
        </p:nvSpPr>
        <p:spPr>
          <a:xfrm>
            <a:off x="819150" y="2114550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Exponential penalty for excessive lexical repetition (word loop detection).</a:t>
            </a:r>
            <a:endParaRPr/>
          </a:p>
        </p:txBody>
      </p:sp>
      <p:sp>
        <p:nvSpPr>
          <p:cNvPr id="456" name="Google Shape;456;p39"/>
          <p:cNvSpPr txBox="1"/>
          <p:nvPr/>
        </p:nvSpPr>
        <p:spPr>
          <a:xfrm>
            <a:off x="6534150" y="1647825"/>
            <a:ext cx="508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LPS: Length Penalty</a:t>
            </a:r>
            <a:endParaRPr/>
          </a:p>
        </p:txBody>
      </p:sp>
      <p:sp>
        <p:nvSpPr>
          <p:cNvPr id="457" name="Google Shape;457;p39"/>
          <p:cNvSpPr txBox="1"/>
          <p:nvPr/>
        </p:nvSpPr>
        <p:spPr>
          <a:xfrm>
            <a:off x="6534150" y="2114550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Discourages very short lyrics (sub-8 lines) to ensure narrative substance.</a:t>
            </a:r>
            <a:endParaRPr/>
          </a:p>
        </p:txBody>
      </p:sp>
      <p:sp>
        <p:nvSpPr>
          <p:cNvPr id="458" name="Google Shape;458;p39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DIVERSITY &amp; LENGTH</a:t>
            </a:r>
            <a:endParaRPr/>
          </a:p>
        </p:txBody>
      </p:sp>
      <p:sp>
        <p:nvSpPr>
          <p:cNvPr id="459" name="Google Shape;459;p39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4" name="Google Shape;46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5" name="Google Shape;46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0"/>
          <p:cNvSpPr/>
          <p:nvPr/>
        </p:nvSpPr>
        <p:spPr>
          <a:xfrm>
            <a:off x="5381625" y="2195512"/>
            <a:ext cx="142875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0"/>
          <p:cNvSpPr txBox="1"/>
          <p:nvPr/>
        </p:nvSpPr>
        <p:spPr>
          <a:xfrm>
            <a:off x="2175510" y="2424112"/>
            <a:ext cx="784098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V. Experiments &amp; Results</a:t>
            </a:r>
            <a:endParaRPr/>
          </a:p>
        </p:txBody>
      </p:sp>
      <p:sp>
        <p:nvSpPr>
          <p:cNvPr id="468" name="Google Shape;468;p40"/>
          <p:cNvSpPr txBox="1"/>
          <p:nvPr/>
        </p:nvSpPr>
        <p:spPr>
          <a:xfrm>
            <a:off x="3886200" y="3309937"/>
            <a:ext cx="4419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FER Training Phases and GPT-2 Performance Analysis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3" name="Google Shape;47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1"/>
          <p:cNvSpPr txBox="1"/>
          <p:nvPr/>
        </p:nvSpPr>
        <p:spPr>
          <a:xfrm>
            <a:off x="904875" y="1552575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Phases I-II: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Established ResNet18/34 baselines (Overfitting found).</a:t>
            </a:r>
            <a:endParaRPr/>
          </a:p>
        </p:txBody>
      </p:sp>
      <p:sp>
        <p:nvSpPr>
          <p:cNvPr id="475" name="Google Shape;475;p41"/>
          <p:cNvSpPr txBox="1"/>
          <p:nvPr/>
        </p:nvSpPr>
        <p:spPr>
          <a:xfrm>
            <a:off x="904875" y="1981200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Phase III: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ResNet50 with linear warmup and label smoothing.</a:t>
            </a:r>
            <a:endParaRPr/>
          </a:p>
        </p:txBody>
      </p:sp>
      <p:sp>
        <p:nvSpPr>
          <p:cNvPr id="476" name="Google Shape;476;p41"/>
          <p:cNvSpPr txBox="1"/>
          <p:nvPr/>
        </p:nvSpPr>
        <p:spPr>
          <a:xfrm>
            <a:off x="904875" y="2409825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Phase IV: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Reformulated to 6-class (Test Acc 67.43%).</a:t>
            </a:r>
            <a:endParaRPr/>
          </a:p>
        </p:txBody>
      </p:sp>
      <p:sp>
        <p:nvSpPr>
          <p:cNvPr id="477" name="Google Shape;477;p41"/>
          <p:cNvSpPr txBox="1"/>
          <p:nvPr/>
        </p:nvSpPr>
        <p:spPr>
          <a:xfrm>
            <a:off x="904875" y="2838450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Phase V: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Multi-dataset ensemble with EfficientNet-B3 backbone.</a:t>
            </a:r>
            <a:endParaRPr/>
          </a:p>
        </p:txBody>
      </p:sp>
      <p:sp>
        <p:nvSpPr>
          <p:cNvPr id="478" name="Google Shape;478;p41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FER TRAINING PHASES</a:t>
            </a:r>
            <a:endParaRPr/>
          </a:p>
        </p:txBody>
      </p:sp>
      <p:sp>
        <p:nvSpPr>
          <p:cNvPr id="479" name="Google Shape;479;p41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0" name="Google Shape;48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120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2" name="Google Shape;48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982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3" name="Google Shape;48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38450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8" name="Google Shape;48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9" name="Google Shape;48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1104900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2"/>
          <p:cNvSpPr txBox="1"/>
          <p:nvPr/>
        </p:nvSpPr>
        <p:spPr>
          <a:xfrm>
            <a:off x="1152525" y="1800225"/>
            <a:ext cx="10220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Prepended control tokens: e.g., , .</a:t>
            </a:r>
            <a:endParaRPr/>
          </a:p>
        </p:txBody>
      </p:sp>
      <p:sp>
        <p:nvSpPr>
          <p:cNvPr id="491" name="Google Shape;491;p42"/>
          <p:cNvSpPr txBox="1"/>
          <p:nvPr/>
        </p:nvSpPr>
        <p:spPr>
          <a:xfrm>
            <a:off x="1152525" y="2228850"/>
            <a:ext cx="10220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Optimizer: AdamW (lr = 5e-5).</a:t>
            </a:r>
            <a:endParaRPr/>
          </a:p>
        </p:txBody>
      </p:sp>
      <p:sp>
        <p:nvSpPr>
          <p:cNvPr id="492" name="Google Shape;492;p42"/>
          <p:cNvSpPr txBox="1"/>
          <p:nvPr/>
        </p:nvSpPr>
        <p:spPr>
          <a:xfrm>
            <a:off x="1152525" y="2657475"/>
            <a:ext cx="10220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Dataset split: 90% training / 10% validation for each emotion class.</a:t>
            </a:r>
            <a:endParaRPr/>
          </a:p>
        </p:txBody>
      </p:sp>
      <p:sp>
        <p:nvSpPr>
          <p:cNvPr id="493" name="Google Shape;493;p42"/>
          <p:cNvSpPr txBox="1"/>
          <p:nvPr/>
        </p:nvSpPr>
        <p:spPr>
          <a:xfrm>
            <a:off x="1152525" y="3086100"/>
            <a:ext cx="10220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Metrics used during training: Cross-entropy loss and Perplexity.</a:t>
            </a:r>
            <a:endParaRPr/>
          </a:p>
        </p:txBody>
      </p:sp>
      <p:sp>
        <p:nvSpPr>
          <p:cNvPr id="494" name="Google Shape;494;p42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GPT-2 CONFIGURATION</a:t>
            </a:r>
            <a:endParaRPr/>
          </a:p>
        </p:txBody>
      </p:sp>
      <p:sp>
        <p:nvSpPr>
          <p:cNvPr id="495" name="Google Shape;495;p42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96" name="Google Shape;496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180022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7" name="Google Shape;497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222885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8" name="Google Shape;498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265747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9" name="Google Shape;499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3086100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4" name="Google Shape;50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3"/>
          <p:cNvSpPr txBox="1"/>
          <p:nvPr/>
        </p:nvSpPr>
        <p:spPr>
          <a:xfrm>
            <a:off x="571500" y="34861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Phase V Ensemble showed significant generalization across unified datasets.</a:t>
            </a:r>
            <a:endParaRPr/>
          </a:p>
        </p:txBody>
      </p:sp>
      <p:graphicFrame>
        <p:nvGraphicFramePr>
          <p:cNvPr id="506" name="Google Shape;506;p43"/>
          <p:cNvGraphicFramePr/>
          <p:nvPr/>
        </p:nvGraphicFramePr>
        <p:xfrm>
          <a:off x="571500" y="14001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{B1DEE64B-2D46-45C4-AE7C-3695C3454CAA}</a:tableStyleId>
              </a:tblPr>
              <a:tblGrid>
                <a:gridCol w="1889825"/>
                <a:gridCol w="3011400"/>
                <a:gridCol w="3032225"/>
                <a:gridCol w="3115575"/>
              </a:tblGrid>
              <a:tr h="4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Phase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Backbone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Train-Test Gap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4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Phase 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ResNet18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8-12%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Phase IV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ResNet50 (6-cls)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0.674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Phase 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Ensemble + TTA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0.751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7" name="Google Shape;507;p43"/>
          <p:cNvSpPr/>
          <p:nvPr/>
        </p:nvSpPr>
        <p:spPr>
          <a:xfrm>
            <a:off x="571500" y="2328862"/>
            <a:ext cx="18898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3"/>
          <p:cNvSpPr/>
          <p:nvPr/>
        </p:nvSpPr>
        <p:spPr>
          <a:xfrm>
            <a:off x="2461319" y="2328862"/>
            <a:ext cx="30113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3"/>
          <p:cNvSpPr/>
          <p:nvPr/>
        </p:nvSpPr>
        <p:spPr>
          <a:xfrm>
            <a:off x="5472707" y="2328862"/>
            <a:ext cx="30322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3"/>
          <p:cNvSpPr/>
          <p:nvPr/>
        </p:nvSpPr>
        <p:spPr>
          <a:xfrm>
            <a:off x="8504932" y="2328862"/>
            <a:ext cx="31155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3"/>
          <p:cNvSpPr/>
          <p:nvPr/>
        </p:nvSpPr>
        <p:spPr>
          <a:xfrm>
            <a:off x="571500" y="2805112"/>
            <a:ext cx="18898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43"/>
          <p:cNvSpPr/>
          <p:nvPr/>
        </p:nvSpPr>
        <p:spPr>
          <a:xfrm>
            <a:off x="2461319" y="2805112"/>
            <a:ext cx="30113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3"/>
          <p:cNvSpPr/>
          <p:nvPr/>
        </p:nvSpPr>
        <p:spPr>
          <a:xfrm>
            <a:off x="5472707" y="2805112"/>
            <a:ext cx="30322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43"/>
          <p:cNvSpPr/>
          <p:nvPr/>
        </p:nvSpPr>
        <p:spPr>
          <a:xfrm>
            <a:off x="8504932" y="2805112"/>
            <a:ext cx="31155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3"/>
          <p:cNvSpPr/>
          <p:nvPr/>
        </p:nvSpPr>
        <p:spPr>
          <a:xfrm>
            <a:off x="571500" y="3281362"/>
            <a:ext cx="18898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3"/>
          <p:cNvSpPr/>
          <p:nvPr/>
        </p:nvSpPr>
        <p:spPr>
          <a:xfrm>
            <a:off x="2461319" y="3281362"/>
            <a:ext cx="30113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3"/>
          <p:cNvSpPr/>
          <p:nvPr/>
        </p:nvSpPr>
        <p:spPr>
          <a:xfrm>
            <a:off x="5472707" y="3281362"/>
            <a:ext cx="30322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3"/>
          <p:cNvSpPr/>
          <p:nvPr/>
        </p:nvSpPr>
        <p:spPr>
          <a:xfrm>
            <a:off x="8504932" y="3281362"/>
            <a:ext cx="31155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3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FER PERFORMANCE RESULTS</a:t>
            </a:r>
            <a:endParaRPr/>
          </a:p>
        </p:txBody>
      </p:sp>
      <p:sp>
        <p:nvSpPr>
          <p:cNvPr id="520" name="Google Shape;520;p43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5" name="Google Shape;5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6" name="Google Shape;52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5334000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7" name="Google Shape;527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00175"/>
            <a:ext cx="5334000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44"/>
          <p:cNvSpPr txBox="1"/>
          <p:nvPr/>
        </p:nvSpPr>
        <p:spPr>
          <a:xfrm>
            <a:off x="819150" y="1685925"/>
            <a:ext cx="508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Happy Condition</a:t>
            </a:r>
            <a:endParaRPr/>
          </a:p>
        </p:txBody>
      </p:sp>
      <p:sp>
        <p:nvSpPr>
          <p:cNvPr id="529" name="Google Shape;529;p44"/>
          <p:cNvSpPr txBox="1"/>
          <p:nvPr/>
        </p:nvSpPr>
        <p:spPr>
          <a:xfrm>
            <a:off x="819150" y="2152650"/>
            <a:ext cx="483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"Sunlight dancing on the floor,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Open up every single door,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Laughter rising in the air,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Joy is everywhere."</a:t>
            </a:r>
            <a:endParaRPr/>
          </a:p>
        </p:txBody>
      </p:sp>
      <p:sp>
        <p:nvSpPr>
          <p:cNvPr id="530" name="Google Shape;530;p44"/>
          <p:cNvSpPr txBox="1"/>
          <p:nvPr/>
        </p:nvSpPr>
        <p:spPr>
          <a:xfrm>
            <a:off x="6534150" y="1685925"/>
            <a:ext cx="5080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Sad Condition</a:t>
            </a:r>
            <a:endParaRPr/>
          </a:p>
        </p:txBody>
      </p:sp>
      <p:sp>
        <p:nvSpPr>
          <p:cNvPr id="531" name="Google Shape;531;p44"/>
          <p:cNvSpPr txBox="1"/>
          <p:nvPr/>
        </p:nvSpPr>
        <p:spPr>
          <a:xfrm>
            <a:off x="6534150" y="2152650"/>
            <a:ext cx="483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"Empty hallways, shadows cold,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Stories left as yet untold,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Rain against the window pane,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Memories are all that remain."</a:t>
            </a:r>
            <a:endParaRPr/>
          </a:p>
        </p:txBody>
      </p:sp>
      <p:sp>
        <p:nvSpPr>
          <p:cNvPr id="532" name="Google Shape;532;p44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LYRIC GENERATION SAMPLES</a:t>
            </a:r>
            <a:endParaRPr/>
          </a:p>
        </p:txBody>
      </p:sp>
      <p:sp>
        <p:nvSpPr>
          <p:cNvPr id="533" name="Google Shape;533;p44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8" name="Google Shape;53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5"/>
          <p:cNvSpPr txBox="1"/>
          <p:nvPr/>
        </p:nvSpPr>
        <p:spPr>
          <a:xfrm>
            <a:off x="571500" y="14001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Strengths</a:t>
            </a:r>
            <a:endParaRPr/>
          </a:p>
        </p:txBody>
      </p:sp>
      <p:sp>
        <p:nvSpPr>
          <p:cNvPr id="540" name="Google Shape;540;p45"/>
          <p:cNvSpPr txBox="1"/>
          <p:nvPr/>
        </p:nvSpPr>
        <p:spPr>
          <a:xfrm>
            <a:off x="6286500" y="14001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Weaknesses</a:t>
            </a:r>
            <a:endParaRPr/>
          </a:p>
        </p:txBody>
      </p:sp>
      <p:sp>
        <p:nvSpPr>
          <p:cNvPr id="541" name="Google Shape;541;p45"/>
          <p:cNvSpPr txBox="1"/>
          <p:nvPr/>
        </p:nvSpPr>
        <p:spPr>
          <a:xfrm>
            <a:off x="904875" y="1876425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Successful emotion conditioning.</a:t>
            </a:r>
            <a:endParaRPr/>
          </a:p>
        </p:txBody>
      </p:sp>
      <p:sp>
        <p:nvSpPr>
          <p:cNvPr id="542" name="Google Shape;542;p45"/>
          <p:cNvSpPr txBox="1"/>
          <p:nvPr/>
        </p:nvSpPr>
        <p:spPr>
          <a:xfrm>
            <a:off x="904875" y="2305050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Scalable pipeline for million-scale song labeling.</a:t>
            </a:r>
            <a:endParaRPr/>
          </a:p>
        </p:txBody>
      </p:sp>
      <p:sp>
        <p:nvSpPr>
          <p:cNvPr id="543" name="Google Shape;543;p45"/>
          <p:cNvSpPr txBox="1"/>
          <p:nvPr/>
        </p:nvSpPr>
        <p:spPr>
          <a:xfrm>
            <a:off x="904875" y="2733675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Reduced overfitting via progressive unfreezing.</a:t>
            </a:r>
            <a:endParaRPr/>
          </a:p>
        </p:txBody>
      </p:sp>
      <p:sp>
        <p:nvSpPr>
          <p:cNvPr id="544" name="Google Shape;544;p45"/>
          <p:cNvSpPr txBox="1"/>
          <p:nvPr/>
        </p:nvSpPr>
        <p:spPr>
          <a:xfrm>
            <a:off x="6619875" y="18764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Fear class: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Consistent lowest F1 (0.448) due to subtle facial movements.</a:t>
            </a:r>
            <a:endParaRPr/>
          </a:p>
        </p:txBody>
      </p:sp>
      <p:sp>
        <p:nvSpPr>
          <p:cNvPr id="545" name="Google Shape;545;p45"/>
          <p:cNvSpPr txBox="1"/>
          <p:nvPr/>
        </p:nvSpPr>
        <p:spPr>
          <a:xfrm>
            <a:off x="6619875" y="2590800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Rhythm: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Not fully enforced in all complex meter types.</a:t>
            </a:r>
            <a:endParaRPr/>
          </a:p>
        </p:txBody>
      </p:sp>
      <p:sp>
        <p:nvSpPr>
          <p:cNvPr id="546" name="Google Shape;546;p45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ANALYSIS &amp; DISCUSSION</a:t>
            </a:r>
            <a:endParaRPr/>
          </a:p>
        </p:txBody>
      </p:sp>
      <p:sp>
        <p:nvSpPr>
          <p:cNvPr id="547" name="Google Shape;547;p45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48" name="Google Shape;54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7642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9" name="Google Shape;549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505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0" name="Google Shape;550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3367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1" name="Google Shape;55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7642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2" name="Google Shape;55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90800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7" name="Google Shape;55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8" name="Google Shape;55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110490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46"/>
          <p:cNvSpPr txBox="1"/>
          <p:nvPr/>
        </p:nvSpPr>
        <p:spPr>
          <a:xfrm>
            <a:off x="571500" y="2867025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Future Horizons</a:t>
            </a:r>
            <a:endParaRPr/>
          </a:p>
        </p:txBody>
      </p:sp>
      <p:sp>
        <p:nvSpPr>
          <p:cNvPr id="560" name="Google Shape;560;p46"/>
          <p:cNvSpPr txBox="1"/>
          <p:nvPr/>
        </p:nvSpPr>
        <p:spPr>
          <a:xfrm>
            <a:off x="819150" y="1647825"/>
            <a:ext cx="10553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MERGE effectively integrates **Visual Emotion** with **Rhythmic Language Modeling**. PHREM provides a robust quantitative baseline for creative lyric evaluation.</a:t>
            </a:r>
            <a:endParaRPr/>
          </a:p>
        </p:txBody>
      </p:sp>
      <p:sp>
        <p:nvSpPr>
          <p:cNvPr id="561" name="Google Shape;561;p46"/>
          <p:cNvSpPr txBox="1"/>
          <p:nvPr/>
        </p:nvSpPr>
        <p:spPr>
          <a:xfrm>
            <a:off x="904875" y="3486150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Deeper Rhythm Enforcement: Improving multi-beat patterns.</a:t>
            </a:r>
            <a:endParaRPr/>
          </a:p>
        </p:txBody>
      </p:sp>
      <p:sp>
        <p:nvSpPr>
          <p:cNvPr id="562" name="Google Shape;562;p46"/>
          <p:cNvSpPr txBox="1"/>
          <p:nvPr/>
        </p:nvSpPr>
        <p:spPr>
          <a:xfrm>
            <a:off x="904875" y="3914775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Larger Models: Moving to GPT-3/LLaMA architectures.</a:t>
            </a:r>
            <a:endParaRPr/>
          </a:p>
        </p:txBody>
      </p:sp>
      <p:sp>
        <p:nvSpPr>
          <p:cNvPr id="563" name="Google Shape;563;p46"/>
          <p:cNvSpPr txBox="1"/>
          <p:nvPr/>
        </p:nvSpPr>
        <p:spPr>
          <a:xfrm>
            <a:off x="904875" y="4343400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Human-in-the-loop: Incorporating subjective evaluation to calibrate PHREM weights.</a:t>
            </a:r>
            <a:endParaRPr/>
          </a:p>
        </p:txBody>
      </p:sp>
      <p:sp>
        <p:nvSpPr>
          <p:cNvPr id="564" name="Google Shape;564;p46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FUTURE WORK</a:t>
            </a:r>
            <a:endParaRPr/>
          </a:p>
        </p:txBody>
      </p:sp>
      <p:sp>
        <p:nvSpPr>
          <p:cNvPr id="565" name="Google Shape;565;p46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66" name="Google Shape;566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8615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7" name="Google Shape;567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1477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8" name="Google Shape;568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43400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3" name="Google Shape;57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47"/>
          <p:cNvSpPr/>
          <p:nvPr/>
        </p:nvSpPr>
        <p:spPr>
          <a:xfrm>
            <a:off x="571500" y="14001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7"/>
          <p:cNvSpPr/>
          <p:nvPr/>
        </p:nvSpPr>
        <p:spPr>
          <a:xfrm>
            <a:off x="571500" y="21717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7"/>
          <p:cNvSpPr/>
          <p:nvPr/>
        </p:nvSpPr>
        <p:spPr>
          <a:xfrm>
            <a:off x="571500" y="294322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7"/>
          <p:cNvSpPr/>
          <p:nvPr/>
        </p:nvSpPr>
        <p:spPr>
          <a:xfrm>
            <a:off x="571500" y="38862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7"/>
          <p:cNvSpPr/>
          <p:nvPr/>
        </p:nvSpPr>
        <p:spPr>
          <a:xfrm>
            <a:off x="571500" y="2162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7"/>
          <p:cNvSpPr/>
          <p:nvPr/>
        </p:nvSpPr>
        <p:spPr>
          <a:xfrm>
            <a:off x="571500" y="2162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7"/>
          <p:cNvSpPr/>
          <p:nvPr/>
        </p:nvSpPr>
        <p:spPr>
          <a:xfrm>
            <a:off x="571500" y="2933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7"/>
          <p:cNvSpPr/>
          <p:nvPr/>
        </p:nvSpPr>
        <p:spPr>
          <a:xfrm>
            <a:off x="571500" y="2933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7"/>
          <p:cNvSpPr/>
          <p:nvPr/>
        </p:nvSpPr>
        <p:spPr>
          <a:xfrm>
            <a:off x="571500" y="3876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7"/>
          <p:cNvSpPr/>
          <p:nvPr/>
        </p:nvSpPr>
        <p:spPr>
          <a:xfrm>
            <a:off x="571500" y="3876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7"/>
          <p:cNvSpPr/>
          <p:nvPr/>
        </p:nvSpPr>
        <p:spPr>
          <a:xfrm>
            <a:off x="571500" y="4648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7"/>
          <p:cNvSpPr/>
          <p:nvPr/>
        </p:nvSpPr>
        <p:spPr>
          <a:xfrm>
            <a:off x="571500" y="4648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86" name="Google Shape;586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3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7"/>
          <p:cNvSpPr txBox="1"/>
          <p:nvPr/>
        </p:nvSpPr>
        <p:spPr>
          <a:xfrm>
            <a:off x="1666875" y="15501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https://miro.medium.com/v2/resize:fit:1400/1*KJMY3D-VqY80Cb651JEIIA.png</a:t>
            </a:r>
            <a:endParaRPr/>
          </a:p>
        </p:txBody>
      </p:sp>
      <p:sp>
        <p:nvSpPr>
          <p:cNvPr id="588" name="Google Shape;588;p47"/>
          <p:cNvSpPr txBox="1"/>
          <p:nvPr/>
        </p:nvSpPr>
        <p:spPr>
          <a:xfrm>
            <a:off x="1666875" y="17835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pub.towardsai.net</a:t>
            </a:r>
            <a:endParaRPr/>
          </a:p>
        </p:txBody>
      </p:sp>
      <p:pic>
        <p:nvPicPr>
          <p:cNvPr descr="image.png" id="589" name="Google Shape;589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145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47"/>
          <p:cNvSpPr txBox="1"/>
          <p:nvPr/>
        </p:nvSpPr>
        <p:spPr>
          <a:xfrm>
            <a:off x="1666875" y="23217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https://www.frontiersin.org/files/Articles/1386937/xml-images/fpsyg-15-1386937-g001.webp</a:t>
            </a:r>
            <a:endParaRPr/>
          </a:p>
        </p:txBody>
      </p:sp>
      <p:sp>
        <p:nvSpPr>
          <p:cNvPr id="591" name="Google Shape;591;p47"/>
          <p:cNvSpPr txBox="1"/>
          <p:nvPr/>
        </p:nvSpPr>
        <p:spPr>
          <a:xfrm>
            <a:off x="1666875" y="25550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www.frontiersin.org</a:t>
            </a:r>
            <a:endParaRPr/>
          </a:p>
        </p:txBody>
      </p:sp>
      <p:pic>
        <p:nvPicPr>
          <p:cNvPr descr="image.png" id="592" name="Google Shape;592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71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47"/>
          <p:cNvSpPr txBox="1"/>
          <p:nvPr/>
        </p:nvSpPr>
        <p:spPr>
          <a:xfrm>
            <a:off x="1666875" y="308610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https://blogger.googleusercontent.com/img/b/R29vZ2xl/AVvXsEjOaB5mFdwI2RffpXI5t5tqwclC884Vabrqk22UFxXeEV9bP3BaijKbV2u2iS-6GSJCHix3crLDDzHtE3GiCYpu-_Md_U7HeapXtd_aEaMMVzxfiwXFpGQlMcOdVve8-iLLLKQvNQrKR3_V2tB_NyCkVQHgBTWWBqorluHqnUs8GXJ62zVw86Si7nsdLULz/s16000/00%20Header.png</a:t>
            </a:r>
            <a:endParaRPr/>
          </a:p>
        </p:txBody>
      </p:sp>
      <p:sp>
        <p:nvSpPr>
          <p:cNvPr id="594" name="Google Shape;594;p47"/>
          <p:cNvSpPr txBox="1"/>
          <p:nvPr/>
        </p:nvSpPr>
        <p:spPr>
          <a:xfrm>
            <a:off x="1666875" y="35052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www.flerlagetwins.com</a:t>
            </a:r>
            <a:endParaRPr/>
          </a:p>
        </p:txBody>
      </p:sp>
      <p:pic>
        <p:nvPicPr>
          <p:cNvPr descr="image.png" id="595" name="Google Shape;595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290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47"/>
          <p:cNvSpPr txBox="1"/>
          <p:nvPr/>
        </p:nvSpPr>
        <p:spPr>
          <a:xfrm>
            <a:off x="1666875" y="40362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https://dfzljdn9uc3pi.cloudfront.net/2025/cs-3335/1/fig-1-full.png</a:t>
            </a:r>
            <a:endParaRPr/>
          </a:p>
        </p:txBody>
      </p:sp>
      <p:sp>
        <p:nvSpPr>
          <p:cNvPr id="597" name="Google Shape;597;p47"/>
          <p:cNvSpPr txBox="1"/>
          <p:nvPr/>
        </p:nvSpPr>
        <p:spPr>
          <a:xfrm>
            <a:off x="1666875" y="42695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peerj.com</a:t>
            </a:r>
            <a:endParaRPr/>
          </a:p>
        </p:txBody>
      </p:sp>
      <p:pic>
        <p:nvPicPr>
          <p:cNvPr descr="image.png" id="598" name="Google Shape;598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00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47"/>
          <p:cNvSpPr txBox="1"/>
          <p:nvPr/>
        </p:nvSpPr>
        <p:spPr>
          <a:xfrm>
            <a:off x="1666875" y="48077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https://majaroedenbeckmusic.com/wp-content/uploads/2024/11/Lady-With-A-Braid-Blogtitelbild-V3-1024x501.jpg</a:t>
            </a:r>
            <a:endParaRPr/>
          </a:p>
        </p:txBody>
      </p:sp>
      <p:sp>
        <p:nvSpPr>
          <p:cNvPr id="600" name="Google Shape;600;p47"/>
          <p:cNvSpPr txBox="1"/>
          <p:nvPr/>
        </p:nvSpPr>
        <p:spPr>
          <a:xfrm>
            <a:off x="1666875" y="50411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majaroedenbeckmusic.com</a:t>
            </a:r>
            <a:endParaRPr/>
          </a:p>
        </p:txBody>
      </p:sp>
      <p:sp>
        <p:nvSpPr>
          <p:cNvPr id="601" name="Google Shape;601;p47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602" name="Google Shape;602;p47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